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10" r:id="rId3"/>
    <p:sldId id="436" r:id="rId4"/>
    <p:sldId id="429" r:id="rId5"/>
    <p:sldId id="430" r:id="rId6"/>
    <p:sldId id="456" r:id="rId7"/>
    <p:sldId id="474" r:id="rId8"/>
    <p:sldId id="464" r:id="rId10"/>
    <p:sldId id="489" r:id="rId11"/>
    <p:sldId id="465" r:id="rId12"/>
    <p:sldId id="475" r:id="rId13"/>
    <p:sldId id="466" r:id="rId14"/>
    <p:sldId id="480" r:id="rId15"/>
    <p:sldId id="481" r:id="rId16"/>
    <p:sldId id="482" r:id="rId17"/>
    <p:sldId id="483" r:id="rId18"/>
    <p:sldId id="486" r:id="rId19"/>
    <p:sldId id="485" r:id="rId20"/>
    <p:sldId id="47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DA9"/>
    <a:srgbClr val="ECEDE0"/>
    <a:srgbClr val="F3ECDC"/>
    <a:srgbClr val="3E465A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4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6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8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0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-4445" y="593217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12360000">
            <a:off x="1406525" y="6258560"/>
            <a:ext cx="606425" cy="491490"/>
          </a:xfrm>
          <a:prstGeom prst="triangl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687830" y="2451735"/>
            <a:ext cx="88798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en-US" altLang="zh-CN" sz="6000" kern="1000" spc="500" dirty="0">
                <a:solidFill>
                  <a:schemeClr val="tx2">
                    <a:lumMod val="90000"/>
                    <a:lumOff val="10000"/>
                  </a:schemeClr>
                </a:solidFill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4.</a:t>
            </a:r>
            <a:r>
              <a:rPr lang="zh-CN" altLang="en-US" sz="6000" kern="1000" spc="500" dirty="0">
                <a:solidFill>
                  <a:schemeClr val="tx2">
                    <a:lumMod val="90000"/>
                    <a:lumOff val="10000"/>
                  </a:schemeClr>
                </a:solidFill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数据备份与恢复</a:t>
            </a:r>
            <a:endParaRPr lang="zh-CN" altLang="en-US" sz="6000" kern="1000" spc="500" dirty="0">
              <a:solidFill>
                <a:schemeClr val="tx2">
                  <a:lumMod val="90000"/>
                  <a:lumOff val="10000"/>
                </a:schemeClr>
              </a:solidFill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-4445" y="593217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12360000">
            <a:off x="1406525" y="6258560"/>
            <a:ext cx="606425" cy="491490"/>
          </a:xfrm>
          <a:prstGeom prst="triangl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06855" y="1673860"/>
            <a:ext cx="9250045" cy="1383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	</a:t>
            </a:r>
            <a:r>
              <a:rPr 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入职第二天，老员工</a:t>
            </a:r>
            <a:r>
              <a:rPr 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就严肃地告诉我：“​​备份是第一要务​​。” 他分享了一个真实案例：之前有同事误删了关键数据，幸好有前一天的备份，才避免了百万损失。</a:t>
            </a:r>
            <a:endParaRPr lang="zh-CN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-4445" y="593217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12360000">
            <a:off x="1406525" y="6258560"/>
            <a:ext cx="606425" cy="491490"/>
          </a:xfrm>
          <a:prstGeom prst="triangl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329736" y="2369325"/>
            <a:ext cx="232591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uFillTx/>
                <a:latin typeface="思源黑体 CN Medium" panose="020B0600000000000000" charset="-122"/>
                <a:ea typeface="思源黑体 CN Medium" panose="020B0600000000000000" charset="-122"/>
              </a:rPr>
              <a:t>目录</a:t>
            </a:r>
            <a:endParaRPr lang="zh-CN" altLang="en-US" sz="6000" dirty="0">
              <a:solidFill>
                <a:schemeClr val="tx1">
                  <a:lumMod val="95000"/>
                  <a:lumOff val="5000"/>
                </a:schemeClr>
              </a:solidFill>
              <a:effectLst/>
              <a:uFillTx/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40555" y="3596640"/>
            <a:ext cx="533146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物理备份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40555" y="1765935"/>
            <a:ext cx="413575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1.RP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RTO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40555" y="2663190"/>
            <a:ext cx="533146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逻辑备份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40555" y="4535805"/>
            <a:ext cx="533146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增量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-4445" y="593217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12360000">
            <a:off x="1406525" y="6258560"/>
            <a:ext cx="606425" cy="491490"/>
          </a:xfrm>
          <a:prstGeom prst="triangl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9531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1.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RPO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和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RTO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9480" y="3136265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RTO(恢复时间目标)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29690" y="1414145"/>
            <a:ext cx="957897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概念：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能容忍丢失多少数据</a:t>
            </a:r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。</a:t>
            </a: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企业场景​​：公司的核心交易库，能容忍丢1小时的数据吗？还是1分钟？甚至是0？</a:t>
            </a: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19480" y="953770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）RPO (恢复点目标)​​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29690" y="3806190"/>
            <a:ext cx="10175240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概念：业务中断后，需要多久能恢复。</a:t>
            </a:r>
            <a:endParaRPr lang="zh-CN" altLang="en-US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endParaRPr lang="zh-CN" altLang="en-US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​​企业场景​​：公司的官网数据库宕机，老板要求5分钟内恢复，还是允许2小时？</a:t>
            </a:r>
            <a:endParaRPr lang="zh-CN" altLang="en-US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-4445" y="593217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12360000">
            <a:off x="1406525" y="6258560"/>
            <a:ext cx="606425" cy="491490"/>
          </a:xfrm>
          <a:prstGeom prst="triangl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逻辑备份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0925" y="2956560"/>
            <a:ext cx="9783445" cy="28613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该数据库大小</a:t>
            </a:r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</a:t>
            </a:r>
            <a:r>
              <a:rPr 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135M</a:t>
            </a:r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，包含约4百万条​​员工记录。</a:t>
            </a:r>
            <a:endParaRPr lang="zh-CN" altLang="en-US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endParaRPr lang="zh-CN" altLang="en-US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导入数据库的过程：</a:t>
            </a:r>
            <a:endParaRPr lang="zh-CN" altLang="en-US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</a:t>
            </a:r>
            <a:r>
              <a:rPr lang="en-US" alt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cd /tmp</a:t>
            </a:r>
            <a:endParaRPr lang="en-US" alt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</a:t>
            </a:r>
            <a:r>
              <a:rPr lang="en-US" altLang="zh-CN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wget https://github.com/datacharmer/test_db/archive/master.zip</a:t>
            </a:r>
            <a:r>
              <a:rPr lang="en-US" altLang="zh-CN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(</a:t>
            </a:r>
            <a:r>
              <a:rPr lang="zh-CN" altLang="en-US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这一步下载不了，则直接上传学习通我给的压缩包</a:t>
            </a:r>
            <a:r>
              <a:rPr lang="zh-CN" altLang="en-US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test_db-master.zip</a:t>
            </a:r>
            <a:r>
              <a:rPr lang="zh-CN" altLang="en-US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)</a:t>
            </a:r>
            <a:r>
              <a:rPr lang="en-US" altLang="zh-CN" sz="2000" dirty="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</a:t>
            </a:r>
            <a:endParaRPr lang="en-US" altLang="zh-CN" sz="2000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</a:t>
            </a:r>
            <a:r>
              <a:rPr lang="en-US" alt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unzip </a:t>
            </a:r>
            <a:r>
              <a:rPr lang="en-US" alt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test_db-master.zip</a:t>
            </a:r>
            <a:endParaRPr lang="en-US" alt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</a:t>
            </a:r>
            <a:r>
              <a:rPr lang="en-US" alt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cd test_db-master</a:t>
            </a:r>
            <a:endParaRPr lang="en-US" alt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⑤</a:t>
            </a:r>
            <a:r>
              <a:rPr lang="en-US" alt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mysql -u root -p &lt; employees.sql  </a:t>
            </a:r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（使用重定向方式导入）</a:t>
            </a:r>
            <a:endParaRPr lang="zh-CN" altLang="en-US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4705" y="2381885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）所需数据库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employees</a:t>
            </a:r>
            <a:endParaRPr lang="en-US" altLang="zh-CN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4705" y="925830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）本质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3455" y="1494155"/>
            <a:ext cx="9783445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备份成一个巨大的​​SQL脚本文件​​（.sql结尾），里面全是CREATE TABLE（建表）和INSERT INTO（插入数据）语句。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-4445" y="593217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12360000">
            <a:off x="1406525" y="6258560"/>
            <a:ext cx="606425" cy="491490"/>
          </a:xfrm>
          <a:prstGeom prst="triangl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逻辑备份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9480" y="961390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）备份过程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2835" y="1637030"/>
            <a:ext cx="1056068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time </a:t>
            </a:r>
            <a:r>
              <a:rPr lang="zh-CN" altLang="en-US" sz="2000"/>
              <a:t>mysqldump -u root -p \           # -u后面是用户名(root)，-p表示要输入密码</a:t>
            </a:r>
            <a:endParaRPr lang="zh-CN" altLang="en-US" sz="2000"/>
          </a:p>
          <a:p>
            <a:r>
              <a:rPr lang="zh-CN" altLang="en-US" sz="2000"/>
              <a:t>--single-transaction \                      # 让数据库开启一个​​事务​​，不锁表</a:t>
            </a:r>
            <a:endParaRPr lang="zh-CN" altLang="en-US" sz="2000"/>
          </a:p>
          <a:p>
            <a:r>
              <a:rPr lang="zh-CN" altLang="en-US" sz="2000"/>
              <a:t>--</a:t>
            </a:r>
            <a:r>
              <a:rPr lang="en-US" altLang="zh-CN" sz="2000"/>
              <a:t>source</a:t>
            </a:r>
            <a:r>
              <a:rPr lang="zh-CN" altLang="en-US" sz="2000"/>
              <a:t>-data=2 \                           # 它会在备份文件开头，记</a:t>
            </a:r>
            <a:r>
              <a:rPr lang="zh-CN" altLang="en-US" sz="2000"/>
              <a:t>下备份的时间点（binlog位置）</a:t>
            </a:r>
            <a:endParaRPr lang="zh-CN" altLang="en-US" sz="2000"/>
          </a:p>
          <a:p>
            <a:r>
              <a:rPr lang="zh-CN" altLang="en-US" sz="2000"/>
              <a:t>--routines --triggers \                      # 把存储过程和触发器也备份了</a:t>
            </a:r>
            <a:endParaRPr lang="zh-CN" altLang="en-US" sz="2000"/>
          </a:p>
          <a:p>
            <a:r>
              <a:rPr lang="zh-CN" altLang="en-US" sz="2000"/>
              <a:t>--databases </a:t>
            </a:r>
            <a:r>
              <a:rPr lang="en-US" altLang="zh-CN" sz="2000"/>
              <a:t>employees</a:t>
            </a:r>
            <a:r>
              <a:rPr lang="zh-CN" altLang="en-US" sz="2000"/>
              <a:t> \                       # 指定只备份 </a:t>
            </a:r>
            <a:r>
              <a:rPr lang="en-US" altLang="zh-CN" sz="2000"/>
              <a:t>employees</a:t>
            </a:r>
            <a:r>
              <a:rPr lang="zh-CN" altLang="en-US" sz="2000"/>
              <a:t> 这个数据库</a:t>
            </a:r>
            <a:endParaRPr lang="zh-CN" altLang="en-US" sz="2000"/>
          </a:p>
          <a:p>
            <a:r>
              <a:rPr lang="zh-CN" altLang="en-US" sz="2000"/>
              <a:t>&gt; /tmp/</a:t>
            </a:r>
            <a:r>
              <a:rPr lang="en-US" altLang="zh-CN" sz="2000"/>
              <a:t>employees</a:t>
            </a:r>
            <a:r>
              <a:rPr lang="zh-CN" altLang="en-US" sz="2000"/>
              <a:t>_backup.sql               # 把备份内容，存到 /tmp/</a:t>
            </a:r>
            <a:r>
              <a:rPr lang="en-US" altLang="zh-CN" sz="2000"/>
              <a:t>employees</a:t>
            </a:r>
            <a:r>
              <a:rPr lang="zh-CN" altLang="en-US" sz="2000"/>
              <a:t>_backup.sql 这个文件里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mysqldump:MySQL</a:t>
            </a:r>
            <a:r>
              <a:rPr lang="zh-CN" altLang="en-US" sz="2000"/>
              <a:t>自带的导出工具，能把数据库里的表结构和数据，转成一条条</a:t>
            </a:r>
            <a:r>
              <a:rPr lang="en-US" altLang="zh-CN" sz="2000"/>
              <a:t>SQL</a:t>
            </a:r>
            <a:r>
              <a:rPr lang="zh-CN" altLang="en-US" sz="2000"/>
              <a:t>语句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写在一起的</a:t>
            </a:r>
            <a:r>
              <a:rPr lang="zh-CN" altLang="en-US" sz="2000"/>
              <a:t>效果：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time </a:t>
            </a:r>
            <a:r>
              <a:rPr lang="zh-CN" altLang="en-US" sz="2000">
                <a:sym typeface="+mn-ea"/>
              </a:rPr>
              <a:t>mysqldump -u root -p --single-transaction --</a:t>
            </a:r>
            <a:r>
              <a:rPr lang="en-US" altLang="zh-CN" sz="2000">
                <a:sym typeface="+mn-ea"/>
              </a:rPr>
              <a:t>source</a:t>
            </a:r>
            <a:r>
              <a:rPr lang="zh-CN" altLang="en-US" sz="2000">
                <a:sym typeface="+mn-ea"/>
              </a:rPr>
              <a:t>-data=2 --routines --triggers --databases </a:t>
            </a:r>
            <a:r>
              <a:rPr lang="en-US" altLang="zh-CN" sz="2000">
                <a:sym typeface="+mn-ea"/>
              </a:rPr>
              <a:t>employees </a:t>
            </a:r>
            <a:r>
              <a:rPr lang="zh-CN" altLang="en-US" sz="2000">
                <a:sym typeface="+mn-ea"/>
              </a:rPr>
              <a:t>&gt; /tmp/</a:t>
            </a:r>
            <a:r>
              <a:rPr lang="en-US" altLang="zh-CN" sz="2000">
                <a:sym typeface="+mn-ea"/>
              </a:rPr>
              <a:t>employees</a:t>
            </a:r>
            <a:r>
              <a:rPr lang="zh-CN" altLang="en-US" sz="2000">
                <a:sym typeface="+mn-ea"/>
              </a:rPr>
              <a:t>_backup.sql   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逻辑备份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4420" y="1386205"/>
            <a:ext cx="9783445" cy="5015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#</a:t>
            </a:r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第一步：</a:t>
            </a:r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删除数据库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DROP DATABASE </a:t>
            </a:r>
            <a:r>
              <a:rPr 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employees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;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#</a:t>
            </a:r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第二步：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让mysql这个工具，去执行备份文件里的所有SQL语句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time 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mysql -u root -p &lt; /tmp/</a:t>
            </a:r>
            <a:r>
              <a:rPr 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employees_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backup.sql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#</a:t>
            </a:r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第三步：</a:t>
            </a:r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验证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SHOW DATABASES; 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USE </a:t>
            </a:r>
            <a:r>
              <a:rPr 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employees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;     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SHOW TABLES;     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查</a:t>
            </a:r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看每张表的行数</a:t>
            </a: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SELECT </a:t>
            </a: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TABLE_NAME, </a:t>
            </a: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 FORMAT(TABLE_ROWS, 0) AS '行数' </a:t>
            </a: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FROM information_schema.tables </a:t>
            </a: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WHERE table_schema = 'employees'</a:t>
            </a:r>
            <a:r>
              <a:rPr lang="en-US" alt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;</a:t>
            </a:r>
            <a:endParaRPr lang="en-US" alt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9620" y="925830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）模拟灾难与恢复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逻辑备份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480" y="1114425"/>
            <a:ext cx="10697845" cy="44100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物理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9480" y="1386205"/>
            <a:ext cx="9783445" cy="1014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当你的数据库达到​​几百GB甚至TB级别​​时，逻辑备份的导出和导入时间可能长达数小时甚至数天</a:t>
            </a:r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。</a:t>
            </a: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 解决方案​​：​​Percona XtraBackup​​。它是业界公认的、开源的MySQL物理备份工具。</a:t>
            </a:r>
            <a:endParaRPr lang="zh-CN" altLang="en-US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0730" y="925830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）本质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0730" y="2400935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）安装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percona xtrabackup</a:t>
            </a:r>
            <a:endParaRPr lang="en-US" altLang="zh-CN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50950" y="2990215"/>
            <a:ext cx="1137539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ts val="2560"/>
              </a:lnSpc>
            </a:pPr>
            <a:r>
              <a:rPr lang="en-US"/>
              <a:t>dnf</a:t>
            </a:r>
            <a:r>
              <a:t> install -y https://repo.percona.com/yum/percona-release-latest.noarch.rpm </a:t>
            </a:r>
          </a:p>
          <a:p>
            <a:pPr fontAlgn="auto">
              <a:lnSpc>
                <a:spcPts val="2560"/>
              </a:lnSpc>
            </a:pPr>
            <a:r>
              <a:t>percona-release enable tools release </a:t>
            </a:r>
          </a:p>
          <a:p>
            <a:pPr fontAlgn="auto">
              <a:lnSpc>
                <a:spcPts val="2560"/>
              </a:lnSpc>
            </a:pPr>
            <a:r>
              <a:rPr lang="en-US"/>
              <a:t>dnf</a:t>
            </a:r>
            <a:r>
              <a:t> install -y percona-xtrabackup-8</a:t>
            </a:r>
            <a:r>
              <a:rPr lang="en-US"/>
              <a:t>4</a:t>
            </a:r>
            <a:endParaRPr lang="en-US"/>
          </a:p>
          <a:p>
            <a:pPr fontAlgn="auto">
              <a:lnSpc>
                <a:spcPts val="2560"/>
              </a:lnSpc>
            </a:pPr>
          </a:p>
          <a:p>
            <a:pPr fontAlgn="auto">
              <a:lnSpc>
                <a:spcPts val="2560"/>
              </a:lnSpc>
            </a:pPr>
          </a:p>
          <a:p>
            <a:pPr fontAlgn="auto">
              <a:lnSpc>
                <a:spcPts val="2560"/>
              </a:lnSpc>
            </a:pPr>
          </a:p>
        </p:txBody>
      </p:sp>
      <p:sp>
        <p:nvSpPr>
          <p:cNvPr id="6" name="文本框 5"/>
          <p:cNvSpPr txBox="1"/>
          <p:nvPr/>
        </p:nvSpPr>
        <p:spPr>
          <a:xfrm>
            <a:off x="760730" y="4124325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）备份过程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275" y="4584700"/>
            <a:ext cx="10169525" cy="9950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992880" y="5521325"/>
            <a:ext cx="113753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ts val="2560"/>
              </a:lnSpc>
            </a:pPr>
            <a:r>
              <a:rPr sz="1600"/>
              <a:t>数据文件（.ibd文件）</a:t>
            </a:r>
            <a:endParaRPr sz="1600"/>
          </a:p>
          <a:p>
            <a:pPr fontAlgn="auto">
              <a:lnSpc>
                <a:spcPts val="2560"/>
              </a:lnSpc>
            </a:pPr>
            <a:r>
              <a:rPr sz="1600"/>
              <a:t>系统表空间（ibdata1）</a:t>
            </a:r>
            <a:endParaRPr sz="1600"/>
          </a:p>
          <a:p>
            <a:pPr fontAlgn="auto">
              <a:lnSpc>
                <a:spcPts val="2560"/>
              </a:lnSpc>
            </a:pPr>
            <a:r>
              <a:rPr sz="1600"/>
              <a:t>实时变化的redo日志</a:t>
            </a:r>
            <a:endParaRPr sz="1600"/>
          </a:p>
        </p:txBody>
      </p:sp>
      <p:sp>
        <p:nvSpPr>
          <p:cNvPr id="15" name="文本框 14"/>
          <p:cNvSpPr txBox="1"/>
          <p:nvPr/>
        </p:nvSpPr>
        <p:spPr>
          <a:xfrm>
            <a:off x="6532880" y="5521325"/>
            <a:ext cx="113753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ts val="2560"/>
              </a:lnSpc>
            </a:pPr>
            <a:r>
              <a:rPr sz="1600"/>
              <a:t>应用所有已提交的事务</a:t>
            </a:r>
            <a:endParaRPr sz="1600"/>
          </a:p>
          <a:p>
            <a:pPr fontAlgn="auto">
              <a:lnSpc>
                <a:spcPts val="2560"/>
              </a:lnSpc>
            </a:pPr>
            <a:r>
              <a:rPr sz="1600"/>
              <a:t>回滚未提交的事务</a:t>
            </a:r>
            <a:endParaRPr sz="1600"/>
          </a:p>
          <a:p>
            <a:pPr fontAlgn="auto">
              <a:lnSpc>
                <a:spcPts val="2560"/>
              </a:lnSpc>
            </a:pPr>
            <a:r>
              <a:rPr sz="1600"/>
              <a:t>使数据文件处于可恢复状态</a:t>
            </a:r>
            <a:endParaRPr sz="160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物理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7890" y="1051560"/>
            <a:ext cx="8815070" cy="4754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2000"/>
              <a:t>备份整个实例</a:t>
            </a:r>
            <a:endParaRPr lang="zh-CN" altLang="en-US" sz="2000"/>
          </a:p>
          <a:p>
            <a:pPr fontAlgn="auto">
              <a:lnSpc>
                <a:spcPct val="150000"/>
              </a:lnSpc>
            </a:pPr>
            <a:r>
              <a:rPr lang="zh-CN" altLang="en-US"/>
              <a:t>xtrabackup --backup --user=root --password=密码 --target-dir=/tmp/full_backup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xtrabackup --prepare --target-dir=</a:t>
            </a:r>
            <a:r>
              <a:rPr lang="zh-CN" altLang="en-US">
                <a:sym typeface="+mn-ea"/>
              </a:rPr>
              <a:t>/tmp/full_backup</a:t>
            </a:r>
            <a:endParaRPr lang="zh-CN" altLang="en-US">
              <a:sym typeface="+mn-ea"/>
            </a:endParaRPr>
          </a:p>
          <a:p>
            <a:pPr fontAlgn="auto">
              <a:lnSpc>
                <a:spcPct val="150000"/>
              </a:lnSpc>
            </a:pPr>
            <a:endParaRPr lang="zh-CN" altLang="en-US"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/>
              <a:t>恢复实例</a:t>
            </a:r>
            <a:endParaRPr lang="zh-CN" altLang="en-US" sz="2000"/>
          </a:p>
          <a:p>
            <a:pPr fontAlgn="auto">
              <a:lnSpc>
                <a:spcPct val="150000"/>
              </a:lnSpc>
            </a:pPr>
            <a:r>
              <a:rPr lang="zh-CN" altLang="en-US"/>
              <a:t>systemctl stop mysqld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rm -rf /var/lib/mysql/*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xtrabackup --copy-back  --target-dir=</a:t>
            </a:r>
            <a:r>
              <a:rPr lang="zh-CN" altLang="en-US">
                <a:sym typeface="+mn-ea"/>
              </a:rPr>
              <a:t>/tmp/full_backup</a:t>
            </a:r>
            <a:r>
              <a:rPr lang="zh-CN" altLang="en-US"/>
              <a:t>  --datadir=/var/lib/mysql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chown -R mysql:mysql /var/lib/mysql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chmod -R 750 /var/lib/mysql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systemctl start mysqld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5065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增量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354455"/>
            <a:ext cx="9783445" cy="1091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 fontAlgn="auto">
              <a:lnSpc>
                <a:spcPts val="26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概念​​：只备份自上次全量或增量备份以来​​发生变化的数据页​​。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 fontAlgn="auto">
              <a:lnSpc>
                <a:spcPts val="2600"/>
              </a:lnSpc>
            </a:pPr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企业价值​​：极大减少备份文件大小，节省磁盘空间和网络带宽，允许更频繁的备份，从而​​降低RPO​​。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0730" y="925830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）本质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增量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354455"/>
            <a:ext cx="9783445" cy="3681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 fontAlgn="auto">
              <a:lnSpc>
                <a:spcPts val="26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概念​​：只备份自上次全量或增量备份以来​​发生变化的数据页​​。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 fontAlgn="auto">
              <a:lnSpc>
                <a:spcPts val="2600"/>
              </a:lnSpc>
            </a:pPr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</a:t>
            </a:r>
            <a:r>
              <a:rPr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企业价值​​：极大减少备份文件大小，节省磁盘空间和网络带宽，允许更频繁的备份，从而​​降低RPO​​。</a:t>
            </a:r>
            <a:endParaRPr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 fontAlgn="auto">
              <a:lnSpc>
                <a:spcPts val="2600"/>
              </a:lnSpc>
            </a:pPr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③过程：</a:t>
            </a: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 fontAlgn="auto">
              <a:lnSpc>
                <a:spcPts val="2600"/>
              </a:lnSpc>
            </a:pPr>
            <a:r>
              <a:rPr lang="zh-CN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第一步：创建基准完整备份</a:t>
            </a: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>
                <a:sym typeface="+mn-ea"/>
              </a:rPr>
              <a:t>xtrabackup --backup --user=root --password=密码 --target-dir=/tmp/full_backup</a:t>
            </a:r>
            <a:endParaRPr lang="zh-CN" altLang="en-US" sz="2000"/>
          </a:p>
          <a:p>
            <a:pPr fontAlgn="auto">
              <a:lnSpc>
                <a:spcPct val="150000"/>
              </a:lnSpc>
            </a:pPr>
            <a:r>
              <a:rPr lang="zh-CN" altLang="en-US" sz="2000">
                <a:sym typeface="+mn-ea"/>
              </a:rPr>
              <a:t>xtrabackup --prepare --target-dir=</a:t>
            </a:r>
            <a:r>
              <a:rPr lang="zh-CN" altLang="en-US" sz="2000">
                <a:sym typeface="+mn-ea"/>
              </a:rPr>
              <a:t>/tmp/full_backup</a:t>
            </a:r>
            <a:endParaRPr lang="zh-CN" altLang="en-US" sz="2000">
              <a:sym typeface="+mn-ea"/>
            </a:endParaRPr>
          </a:p>
          <a:p>
            <a:pPr algn="l" fontAlgn="auto">
              <a:lnSpc>
                <a:spcPts val="2600"/>
              </a:lnSpc>
            </a:pPr>
            <a:r>
              <a:rPr lang="zh-CN" altLang="en-US" sz="2000">
                <a:sym typeface="+mn-ea"/>
              </a:rPr>
              <a:t># 查看增量备份信息</a:t>
            </a:r>
            <a:endParaRPr lang="zh-CN" altLang="en-US" sz="2000"/>
          </a:p>
          <a:p>
            <a:pPr algn="l" fontAlgn="auto">
              <a:lnSpc>
                <a:spcPts val="2600"/>
              </a:lnSpc>
            </a:pPr>
            <a:r>
              <a:rPr lang="zh-CN" altLang="en-US" sz="2000">
                <a:sym typeface="+mn-ea"/>
              </a:rPr>
              <a:t>cat /tmp/</a:t>
            </a:r>
            <a:r>
              <a:rPr lang="en-US" altLang="zh-CN" sz="2000">
                <a:sym typeface="+mn-ea"/>
              </a:rPr>
              <a:t>full_backup</a:t>
            </a:r>
            <a:r>
              <a:rPr lang="zh-CN" altLang="en-US" sz="2000">
                <a:sym typeface="+mn-ea"/>
              </a:rPr>
              <a:t>/xtrabackup_checkpoints</a:t>
            </a:r>
            <a:endParaRPr lang="zh-CN" altLang="en-US" sz="2000"/>
          </a:p>
          <a:p>
            <a:pPr algn="l" fontAlgn="auto">
              <a:lnSpc>
                <a:spcPts val="2600"/>
              </a:lnSpc>
            </a:pPr>
            <a:endParaRPr lang="zh-CN" sz="2000" dirty="0">
              <a:solidFill>
                <a:schemeClr val="tx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0730" y="925830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xtrabackup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增量备份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-127" t="10614" r="56499"/>
          <a:stretch>
            <a:fillRect/>
          </a:stretch>
        </p:blipFill>
        <p:spPr>
          <a:xfrm>
            <a:off x="7104380" y="3462655"/>
            <a:ext cx="2839085" cy="136906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73455" y="4639310"/>
            <a:ext cx="102419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第二步：模拟数据变化</a:t>
            </a:r>
            <a:endParaRPr lang="zh-CN" altLang="en-US"/>
          </a:p>
          <a:p>
            <a:r>
              <a:rPr lang="zh-CN" altLang="en-US"/>
              <a:t>-- 插入新员工</a:t>
            </a:r>
            <a:endParaRPr lang="zh-CN" altLang="en-US"/>
          </a:p>
          <a:p>
            <a:r>
              <a:rPr lang="zh-CN" altLang="en-US"/>
              <a:t>INSERT INTO employees (emp_no, birth_date, first_name, last_name, gender, hire_date) </a:t>
            </a:r>
            <a:endParaRPr lang="zh-CN" altLang="en-US"/>
          </a:p>
          <a:p>
            <a:r>
              <a:rPr lang="zh-CN" altLang="en-US"/>
              <a:t>VALUES (500000, '1990-01-01', '张', '三', 'M', '2024-01-01');</a:t>
            </a:r>
            <a:endParaRPr lang="zh-CN" altLang="en-US"/>
          </a:p>
          <a:p>
            <a:r>
              <a:rPr lang="zh-CN" altLang="en-US"/>
              <a:t>-- 更新工资数据</a:t>
            </a:r>
            <a:endParaRPr lang="zh-CN" altLang="en-US"/>
          </a:p>
          <a:p>
            <a:r>
              <a:rPr lang="zh-CN" altLang="en-US"/>
              <a:t>UPDATE salaries SET salary = salary * 1.1 WHERE emp_no = 10001;</a:t>
            </a:r>
            <a:endParaRPr lang="zh-CN" altLang="en-US"/>
          </a:p>
          <a:p>
            <a:r>
              <a:rPr lang="zh-CN" altLang="en-US"/>
              <a:t>-- 提交更改</a:t>
            </a:r>
            <a:endParaRPr lang="zh-CN" altLang="en-US"/>
          </a:p>
          <a:p>
            <a:r>
              <a:rPr lang="zh-CN" altLang="en-US"/>
              <a:t>COMMIT;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增量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0730" y="925830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xtrabackup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增量备份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24" t="13368" r="59534"/>
          <a:stretch>
            <a:fillRect/>
          </a:stretch>
        </p:blipFill>
        <p:spPr>
          <a:xfrm>
            <a:off x="5701665" y="1571625"/>
            <a:ext cx="3253740" cy="15678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19480" y="1408430"/>
            <a:ext cx="102419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第三</a:t>
            </a:r>
            <a:r>
              <a:rPr lang="zh-CN" altLang="en-US"/>
              <a:t>步：执行第一次增量备份</a:t>
            </a:r>
            <a:endParaRPr lang="zh-CN" altLang="en-US"/>
          </a:p>
          <a:p>
            <a:r>
              <a:rPr lang="zh-CN" altLang="en-US"/>
              <a:t>xtrabackup --backup \</a:t>
            </a:r>
            <a:endParaRPr lang="zh-CN" altLang="en-US"/>
          </a:p>
          <a:p>
            <a:r>
              <a:rPr lang="zh-CN" altLang="en-US"/>
              <a:t>  --user=root \</a:t>
            </a:r>
            <a:endParaRPr lang="zh-CN" altLang="en-US"/>
          </a:p>
          <a:p>
            <a:r>
              <a:rPr lang="zh-CN" altLang="en-US"/>
              <a:t>  --password=你的密码 \</a:t>
            </a:r>
            <a:endParaRPr lang="zh-CN" altLang="en-US"/>
          </a:p>
          <a:p>
            <a:r>
              <a:rPr lang="zh-CN" altLang="en-US"/>
              <a:t>  --target-dir=/tmp/inc_backup_1 \</a:t>
            </a:r>
            <a:endParaRPr lang="zh-CN" altLang="en-US"/>
          </a:p>
          <a:p>
            <a:r>
              <a:rPr lang="zh-CN" altLang="en-US"/>
              <a:t>  --incremental-basedir=/tmp/full_backup</a:t>
            </a:r>
            <a:endParaRPr lang="zh-CN" altLang="en-US"/>
          </a:p>
          <a:p>
            <a:r>
              <a:rPr lang="zh-CN" altLang="en-US"/>
              <a:t># 查看增量备份信息</a:t>
            </a:r>
            <a:endParaRPr lang="zh-CN" altLang="en-US"/>
          </a:p>
          <a:p>
            <a:r>
              <a:rPr lang="zh-CN" altLang="en-US"/>
              <a:t>cat /tmp/inc_backup_1/xtrabackup_checkpoints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74725" y="3715385"/>
            <a:ext cx="102419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第四步：再次模拟数据变化</a:t>
            </a:r>
            <a:endParaRPr lang="zh-CN" altLang="en-US"/>
          </a:p>
          <a:p>
            <a:r>
              <a:rPr lang="zh-CN" altLang="en-US"/>
              <a:t>mysql -u root -p -e "</a:t>
            </a:r>
            <a:endParaRPr lang="zh-CN" altLang="en-US"/>
          </a:p>
          <a:p>
            <a:r>
              <a:rPr lang="zh-CN" altLang="en-US"/>
              <a:t>USE employees;</a:t>
            </a:r>
            <a:endParaRPr lang="zh-CN" altLang="en-US"/>
          </a:p>
          <a:p>
            <a:r>
              <a:rPr lang="zh-CN" altLang="en-US"/>
              <a:t>INSERT INTO employees VALUES (500001, '1992-02-02', '李', '四', 'F', '2024-01-02');</a:t>
            </a:r>
            <a:endParaRPr lang="zh-CN" altLang="en-US"/>
          </a:p>
          <a:p>
            <a:r>
              <a:rPr lang="zh-CN" altLang="en-US"/>
              <a:t>UPDATE salaries SET salary = salary + 1000 WHERE emp_no = 10002;</a:t>
            </a:r>
            <a:endParaRPr lang="zh-CN" altLang="en-US"/>
          </a:p>
          <a:p>
            <a:r>
              <a:rPr lang="zh-CN" altLang="en-US"/>
              <a:t>"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93445" y="1174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增量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0730" y="639445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xtrabackup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增量备份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74725" y="1099820"/>
            <a:ext cx="102419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第五</a:t>
            </a:r>
            <a:r>
              <a:rPr lang="zh-CN" altLang="en-US"/>
              <a:t>步：执行执行第二次增量备份</a:t>
            </a:r>
            <a:endParaRPr lang="zh-CN" altLang="en-US"/>
          </a:p>
          <a:p>
            <a:r>
              <a:rPr lang="zh-CN" altLang="en-US"/>
              <a:t># 基于第一次增量备份继续增量备份</a:t>
            </a:r>
            <a:endParaRPr lang="zh-CN" altLang="en-US"/>
          </a:p>
          <a:p>
            <a:r>
              <a:rPr lang="zh-CN" altLang="en-US"/>
              <a:t>xtrabackup --backup \</a:t>
            </a:r>
            <a:endParaRPr lang="zh-CN" altLang="en-US"/>
          </a:p>
          <a:p>
            <a:r>
              <a:rPr lang="zh-CN" altLang="en-US"/>
              <a:t>  --user=root \</a:t>
            </a:r>
            <a:endParaRPr lang="zh-CN" altLang="en-US"/>
          </a:p>
          <a:p>
            <a:r>
              <a:rPr lang="zh-CN" altLang="en-US"/>
              <a:t>  --password=你的密码 \</a:t>
            </a:r>
            <a:endParaRPr lang="zh-CN" altLang="en-US"/>
          </a:p>
          <a:p>
            <a:r>
              <a:rPr lang="zh-CN" altLang="en-US"/>
              <a:t>  --target-dir=/tmp/inc_backup_2 \</a:t>
            </a:r>
            <a:endParaRPr lang="zh-CN" altLang="en-US"/>
          </a:p>
          <a:p>
            <a:r>
              <a:rPr lang="zh-CN" altLang="en-US"/>
              <a:t>  --incremental-basedir=/tmp/inc_backup_1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74725" y="3249295"/>
            <a:ext cx="1024191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第六步：恢复</a:t>
            </a:r>
            <a:r>
              <a:rPr lang="en-US" altLang="zh-CN"/>
              <a:t>(</a:t>
            </a:r>
            <a:r>
              <a:rPr lang="zh-CN" altLang="en-US"/>
              <a:t>准备＋拷贝</a:t>
            </a:r>
            <a:r>
              <a:rPr lang="en-US" altLang="zh-CN"/>
              <a:t>)</a:t>
            </a:r>
            <a:endParaRPr lang="en-US" altLang="zh-CN"/>
          </a:p>
          <a:p>
            <a:r>
              <a:rPr lang="zh-CN" altLang="en-US"/>
              <a:t>准备：</a:t>
            </a:r>
            <a:endParaRPr lang="zh-CN" altLang="en-US"/>
          </a:p>
          <a:p>
            <a:r>
              <a:rPr lang="zh-CN" altLang="en-US"/>
              <a:t># 1. 准备基准完整备份（但不回滚未提交事务）</a:t>
            </a:r>
            <a:endParaRPr lang="zh-CN" altLang="en-US"/>
          </a:p>
          <a:p>
            <a:r>
              <a:rPr lang="zh-CN" altLang="en-US"/>
              <a:t>xtrabackup --prepare --apply-log-only --target-dir=/tmp/full_backup</a:t>
            </a:r>
            <a:endParaRPr lang="zh-CN" altLang="en-US"/>
          </a:p>
          <a:p>
            <a:r>
              <a:rPr lang="zh-CN" altLang="en-US"/>
              <a:t># 2. 应用第一次增量备份到基准备份</a:t>
            </a:r>
            <a:endParaRPr lang="zh-CN" altLang="en-US"/>
          </a:p>
          <a:p>
            <a:r>
              <a:rPr lang="zh-CN" altLang="en-US"/>
              <a:t>xtrabackup --prepare --apply-log-only --target-dir=/tmp/full_backup \</a:t>
            </a:r>
            <a:endParaRPr lang="zh-CN" altLang="en-US"/>
          </a:p>
          <a:p>
            <a:r>
              <a:rPr lang="zh-CN" altLang="en-US"/>
              <a:t>  --incremental-dir=/tmp/inc_backup_1</a:t>
            </a:r>
            <a:endParaRPr lang="zh-CN" altLang="en-US"/>
          </a:p>
          <a:p>
            <a:r>
              <a:rPr lang="zh-CN" altLang="en-US"/>
              <a:t># 3. 应用第二次增量备份</a:t>
            </a:r>
            <a:endParaRPr lang="zh-CN" altLang="en-US"/>
          </a:p>
          <a:p>
            <a:r>
              <a:rPr lang="zh-CN" altLang="en-US"/>
              <a:t>xtrabackup --prepare --apply-log-only --target-dir=/tmp/full_backup \</a:t>
            </a:r>
            <a:endParaRPr lang="zh-CN" altLang="en-US"/>
          </a:p>
          <a:p>
            <a:r>
              <a:rPr lang="zh-CN" altLang="en-US"/>
              <a:t>  --incremental-dir=/tmp/inc_backup_2</a:t>
            </a:r>
            <a:endParaRPr lang="zh-CN" altLang="en-US"/>
          </a:p>
          <a:p>
            <a:r>
              <a:rPr lang="zh-CN" altLang="en-US"/>
              <a:t># 4. 最终准备（回滚未提交事务）</a:t>
            </a:r>
            <a:endParaRPr lang="zh-CN" altLang="en-US"/>
          </a:p>
          <a:p>
            <a:r>
              <a:rPr lang="zh-CN" altLang="en-US"/>
              <a:t>xtrabackup --prepare --target-dir=/tmp/full_backup </a:t>
            </a:r>
            <a:r>
              <a:rPr lang="en-US" altLang="zh-CN"/>
              <a:t>--datadir=/var/lib/mysql/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-277" t="13564" r="60612" b="-484"/>
          <a:stretch>
            <a:fillRect/>
          </a:stretch>
        </p:blipFill>
        <p:spPr>
          <a:xfrm>
            <a:off x="6021705" y="1099820"/>
            <a:ext cx="3376295" cy="17976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93445" y="1174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增量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备份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1355" y="513080"/>
            <a:ext cx="712787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xtrabackup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增量备份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75360" y="1144270"/>
            <a:ext cx="1024191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拷贝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# 停止MySQL</a:t>
            </a:r>
            <a:endParaRPr lang="zh-CN" altLang="en-US"/>
          </a:p>
          <a:p>
            <a:r>
              <a:rPr lang="zh-CN" altLang="en-US"/>
              <a:t>systemctl stop mysqld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# 清空数据目录</a:t>
            </a:r>
            <a:endParaRPr lang="zh-CN" altLang="en-US"/>
          </a:p>
          <a:p>
            <a:r>
              <a:rPr lang="zh-CN" altLang="en-US"/>
              <a:t>rm -rf /var/lib/mysql/*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# 恢复合并后的备份</a:t>
            </a:r>
            <a:endParaRPr lang="zh-CN" altLang="en-US"/>
          </a:p>
          <a:p>
            <a:r>
              <a:rPr lang="zh-CN" altLang="en-US"/>
              <a:t>xtrabackup --copy-back --target-dir=/tmp/full_backup </a:t>
            </a:r>
            <a:r>
              <a:rPr lang="en-US" altLang="zh-CN"/>
              <a:t>--datadir=/var/lib/mysql/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 设置权限并启动</a:t>
            </a:r>
            <a:endParaRPr lang="zh-CN" altLang="en-US"/>
          </a:p>
          <a:p>
            <a:r>
              <a:rPr lang="zh-CN" altLang="en-US"/>
              <a:t>chown -R mysql:mysql /var/lib/mysql</a:t>
            </a:r>
            <a:endParaRPr lang="zh-CN" altLang="en-US"/>
          </a:p>
          <a:p>
            <a:r>
              <a:rPr lang="zh-CN" altLang="en-US"/>
              <a:t>chmod -R 750 /var/lib/mysql</a:t>
            </a:r>
            <a:endParaRPr lang="zh-CN" altLang="en-US"/>
          </a:p>
          <a:p>
            <a:r>
              <a:rPr lang="zh-CN" altLang="en-US"/>
              <a:t>systemctl start mysqld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# 备份大小对比</a:t>
            </a:r>
            <a:endParaRPr lang="zh-CN" altLang="en-US"/>
          </a:p>
          <a:p>
            <a:r>
              <a:rPr lang="zh-CN" altLang="en-US"/>
              <a:t>du -sh /tmp/full_backup/    </a:t>
            </a:r>
            <a:endParaRPr lang="zh-CN" altLang="en-US"/>
          </a:p>
          <a:p>
            <a:r>
              <a:rPr lang="zh-CN" altLang="en-US"/>
              <a:t>du -sh /tmp/inc_backup_1/   </a:t>
            </a:r>
            <a:endParaRPr lang="zh-CN" altLang="en-US"/>
          </a:p>
          <a:p>
            <a:r>
              <a:rPr lang="zh-CN" altLang="en-US"/>
              <a:t>du -sh /tmp/inc_backup_2/   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93445" y="1174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时间点恢复（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PITR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5010" y="639445"/>
            <a:ext cx="3845560" cy="26765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）数据文件和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binlog</a:t>
            </a:r>
            <a:endParaRPr lang="en-US" altLang="zh-CN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endParaRPr lang="en-US" altLang="zh-CN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en-US" altLang="zh-CN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时间点恢复在实际工作中非常关键，尤其是在应对误删数据、程序bug导致数据错误或遭受勒索软件攻击时。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en-US" altLang="zh-CN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时间点恢复通常需要与一个全量备份结合使用。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6835" y="1052195"/>
            <a:ext cx="5808345" cy="50711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93445" y="1174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时间点恢复（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PITR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3445" y="1050925"/>
            <a:ext cx="9796145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将备份文件的内容导入到数据库中</a:t>
            </a:r>
            <a:endParaRPr lang="zh-CN" altLang="en-US"/>
          </a:p>
          <a:p>
            <a:r>
              <a:rPr lang="zh-CN" altLang="en-US"/>
              <a:t>mysql -u root -p employees &lt; employees_backup.sql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执行操作</a:t>
            </a:r>
            <a:endParaRPr lang="zh-CN" altLang="en-US"/>
          </a:p>
          <a:p>
            <a:r>
              <a:rPr lang="zh-CN" altLang="en-US"/>
              <a:t>正常操作</a:t>
            </a:r>
            <a:endParaRPr lang="zh-CN" altLang="en-US"/>
          </a:p>
          <a:p>
            <a:r>
              <a:rPr lang="zh-CN" altLang="en-US"/>
              <a:t>CREATE TABLE demo_students (</a:t>
            </a:r>
            <a:endParaRPr lang="zh-CN" altLang="en-US"/>
          </a:p>
          <a:p>
            <a:r>
              <a:rPr lang="zh-CN" altLang="en-US"/>
              <a:t>    id INT AUTO_INCREMENT PRIMARY KEY,</a:t>
            </a:r>
            <a:endParaRPr lang="zh-CN" altLang="en-US"/>
          </a:p>
          <a:p>
            <a:r>
              <a:rPr lang="zh-CN" altLang="en-US"/>
              <a:t>    name VARCHAR(50),</a:t>
            </a:r>
            <a:endParaRPr lang="zh-CN" altLang="en-US"/>
          </a:p>
          <a:p>
            <a:r>
              <a:rPr lang="zh-CN" altLang="en-US"/>
              <a:t>    grade VARCHAR(10)</a:t>
            </a:r>
            <a:endParaRPr lang="zh-CN" altLang="en-US"/>
          </a:p>
          <a:p>
            <a:r>
              <a:rPr lang="zh-CN" altLang="en-US"/>
              <a:t>);</a:t>
            </a:r>
            <a:endParaRPr lang="zh-CN" altLang="en-US"/>
          </a:p>
          <a:p>
            <a:r>
              <a:rPr lang="zh-CN" altLang="en-US"/>
              <a:t>INSERT INTO demo_students (name, grade) VALUES </a:t>
            </a:r>
            <a:endParaRPr lang="zh-CN" altLang="en-US"/>
          </a:p>
          <a:p>
            <a:r>
              <a:rPr lang="zh-CN" altLang="en-US"/>
              <a:t>('学生1', 'A'),</a:t>
            </a:r>
            <a:endParaRPr lang="zh-CN" altLang="en-US"/>
          </a:p>
          <a:p>
            <a:r>
              <a:rPr lang="zh-CN" altLang="en-US"/>
              <a:t>('学生2', 'B'),</a:t>
            </a:r>
            <a:endParaRPr lang="zh-CN" altLang="en-US"/>
          </a:p>
          <a:p>
            <a:r>
              <a:rPr lang="zh-CN" altLang="en-US"/>
              <a:t>('学生3', 'C');</a:t>
            </a:r>
            <a:endParaRPr lang="zh-CN" altLang="en-US"/>
          </a:p>
          <a:p>
            <a:r>
              <a:rPr lang="zh-CN" altLang="en-US"/>
              <a:t>误操作</a:t>
            </a:r>
            <a:endParaRPr lang="zh-CN" altLang="en-US"/>
          </a:p>
          <a:p>
            <a:r>
              <a:rPr lang="en-US" altLang="zh-CN"/>
              <a:t>drop table demo_students;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恢复</a:t>
            </a:r>
            <a:endParaRPr lang="zh-CN" altLang="en-US"/>
          </a:p>
          <a:p>
            <a:r>
              <a:rPr lang="zh-CN" altLang="en-US"/>
              <a:t>mysqlbinlog --start-position=</a:t>
            </a:r>
            <a:r>
              <a:rPr lang="en-US" altLang="zh-CN"/>
              <a:t>158</a:t>
            </a:r>
            <a:r>
              <a:rPr lang="zh-CN" altLang="en-US"/>
              <a:t> --stop-datetime="202</a:t>
            </a:r>
            <a:r>
              <a:rPr lang="en-US" altLang="zh-CN"/>
              <a:t>5</a:t>
            </a:r>
            <a:r>
              <a:rPr lang="zh-CN" altLang="en-US"/>
              <a:t>-0</a:t>
            </a:r>
            <a:r>
              <a:rPr lang="en-US" altLang="zh-CN"/>
              <a:t>9</a:t>
            </a:r>
            <a:r>
              <a:rPr lang="zh-CN" altLang="en-US"/>
              <a:t>-</a:t>
            </a:r>
            <a:r>
              <a:rPr lang="en-US" altLang="zh-CN"/>
              <a:t>29 15</a:t>
            </a:r>
            <a:r>
              <a:rPr lang="zh-CN" altLang="en-US"/>
              <a:t>:</a:t>
            </a:r>
            <a:r>
              <a:rPr lang="en-US"/>
              <a:t>02</a:t>
            </a:r>
            <a:r>
              <a:rPr lang="zh-CN" altLang="en-US"/>
              <a:t>:</a:t>
            </a:r>
            <a:r>
              <a:rPr lang="en-US" altLang="zh-CN"/>
              <a:t>00</a:t>
            </a:r>
            <a:r>
              <a:rPr lang="zh-CN" altLang="en-US"/>
              <a:t>"    /var/lib/mysql/binlog.0000</a:t>
            </a:r>
            <a:r>
              <a:rPr lang="en-US"/>
              <a:t>15</a:t>
            </a:r>
            <a:r>
              <a:rPr lang="zh-CN" altLang="en-US"/>
              <a:t> | mysql -u root -p employees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50570" y="639445"/>
            <a:ext cx="712787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</a:t>
            </a:r>
            <a:r>
              <a:rPr lang="en-US" altLang="zh-CN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2400" dirty="0">
                <a:solidFill>
                  <a:srgbClr val="0070C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）时间点恢复过程</a:t>
            </a:r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endParaRPr lang="zh-CN" altLang="en-US" sz="2400" dirty="0">
              <a:solidFill>
                <a:srgbClr val="0070C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任意多边形 35"/>
          <p:cNvSpPr/>
          <p:nvPr/>
        </p:nvSpPr>
        <p:spPr>
          <a:xfrm flipH="1" flipV="1">
            <a:off x="-13335" y="-635"/>
            <a:ext cx="1697355" cy="236982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斜纹 24"/>
          <p:cNvSpPr/>
          <p:nvPr/>
        </p:nvSpPr>
        <p:spPr>
          <a:xfrm>
            <a:off x="0" y="-63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10504170" y="4748530"/>
            <a:ext cx="1697355" cy="2089150"/>
          </a:xfrm>
          <a:custGeom>
            <a:avLst/>
            <a:gdLst>
              <a:gd name="connisteX0" fmla="*/ 1697355 w 1697355"/>
              <a:gd name="connsiteY0" fmla="*/ 0 h 2089150"/>
              <a:gd name="connisteX1" fmla="*/ 1215390 w 1697355"/>
              <a:gd name="connsiteY1" fmla="*/ 441960 h 2089150"/>
              <a:gd name="connisteX2" fmla="*/ 1346200 w 1697355"/>
              <a:gd name="connsiteY2" fmla="*/ 954405 h 2089150"/>
              <a:gd name="connisteX3" fmla="*/ 1014730 w 1697355"/>
              <a:gd name="connsiteY3" fmla="*/ 1325880 h 2089150"/>
              <a:gd name="connisteX4" fmla="*/ 1104900 w 1697355"/>
              <a:gd name="connsiteY4" fmla="*/ 1847850 h 2089150"/>
              <a:gd name="connisteX5" fmla="*/ 0 w 1697355"/>
              <a:gd name="connsiteY5" fmla="*/ 2089150 h 2089150"/>
              <a:gd name="connisteX6" fmla="*/ -10160 w 1697355"/>
              <a:gd name="connsiteY6" fmla="*/ 2078990 h 20891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l" t="t" r="r" b="b"/>
            <a:pathLst>
              <a:path w="1697355" h="2089150">
                <a:moveTo>
                  <a:pt x="1697355" y="0"/>
                </a:moveTo>
                <a:cubicBezTo>
                  <a:pt x="1598295" y="78105"/>
                  <a:pt x="1285875" y="250825"/>
                  <a:pt x="1215390" y="441960"/>
                </a:cubicBezTo>
                <a:cubicBezTo>
                  <a:pt x="1144905" y="633095"/>
                  <a:pt x="1386205" y="777875"/>
                  <a:pt x="1346200" y="954405"/>
                </a:cubicBezTo>
                <a:cubicBezTo>
                  <a:pt x="1306195" y="1130935"/>
                  <a:pt x="1062990" y="1147445"/>
                  <a:pt x="1014730" y="1325880"/>
                </a:cubicBezTo>
                <a:cubicBezTo>
                  <a:pt x="966470" y="1504315"/>
                  <a:pt x="1308100" y="1695450"/>
                  <a:pt x="1104900" y="1847850"/>
                </a:cubicBezTo>
                <a:cubicBezTo>
                  <a:pt x="901700" y="2000250"/>
                  <a:pt x="222885" y="2042795"/>
                  <a:pt x="0" y="2089150"/>
                </a:cubicBezTo>
              </a:path>
            </a:pathLst>
          </a:custGeom>
          <a:noFill/>
          <a:ln>
            <a:solidFill>
              <a:srgbClr val="3E4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6075" y="320675"/>
            <a:ext cx="11499215" cy="6216650"/>
          </a:xfrm>
          <a:prstGeom prst="rect">
            <a:avLst/>
          </a:prstGeom>
          <a:noFill/>
          <a:ln w="19050" cmpd="sng">
            <a:solidFill>
              <a:srgbClr val="F3EC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flipH="1" flipV="1">
            <a:off x="10332085" y="0"/>
            <a:ext cx="1859915" cy="2200910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-13335" y="4124325"/>
            <a:ext cx="1701165" cy="2733675"/>
          </a:xfrm>
          <a:custGeom>
            <a:avLst/>
            <a:gdLst>
              <a:gd name="connisteX0" fmla="*/ 0 w 2057400"/>
              <a:gd name="connsiteY0" fmla="*/ 0 h 3304540"/>
              <a:gd name="connisteX1" fmla="*/ 751840 w 2057400"/>
              <a:gd name="connsiteY1" fmla="*/ 492125 h 3304540"/>
              <a:gd name="connisteX2" fmla="*/ 450215 w 2057400"/>
              <a:gd name="connsiteY2" fmla="*/ 1597025 h 3304540"/>
              <a:gd name="connisteX3" fmla="*/ 1163320 w 2057400"/>
              <a:gd name="connsiteY3" fmla="*/ 2310130 h 3304540"/>
              <a:gd name="connisteX4" fmla="*/ 1233805 w 2057400"/>
              <a:gd name="connsiteY4" fmla="*/ 3053080 h 3304540"/>
              <a:gd name="connisteX5" fmla="*/ 2057400 w 2057400"/>
              <a:gd name="connsiteY5" fmla="*/ 3304540 h 33045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2057400" h="3304540">
                <a:moveTo>
                  <a:pt x="0" y="0"/>
                </a:moveTo>
                <a:cubicBezTo>
                  <a:pt x="156210" y="76200"/>
                  <a:pt x="661670" y="172720"/>
                  <a:pt x="751840" y="492125"/>
                </a:cubicBezTo>
                <a:cubicBezTo>
                  <a:pt x="842010" y="811530"/>
                  <a:pt x="367665" y="1233170"/>
                  <a:pt x="450215" y="1597025"/>
                </a:cubicBezTo>
                <a:cubicBezTo>
                  <a:pt x="532765" y="1960880"/>
                  <a:pt x="1006475" y="2018665"/>
                  <a:pt x="1163320" y="2310130"/>
                </a:cubicBezTo>
                <a:cubicBezTo>
                  <a:pt x="1320165" y="2601595"/>
                  <a:pt x="1054735" y="2854325"/>
                  <a:pt x="1233805" y="3053080"/>
                </a:cubicBezTo>
                <a:cubicBezTo>
                  <a:pt x="1412875" y="3251835"/>
                  <a:pt x="1894205" y="3268980"/>
                  <a:pt x="2057400" y="3304540"/>
                </a:cubicBezTo>
              </a:path>
            </a:pathLst>
          </a:custGeom>
          <a:noFill/>
          <a:ln>
            <a:solidFill>
              <a:srgbClr val="ECE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斜纹 10"/>
          <p:cNvSpPr/>
          <p:nvPr/>
        </p:nvSpPr>
        <p:spPr>
          <a:xfrm>
            <a:off x="0" y="505777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-4445" y="3596598"/>
            <a:ext cx="439420" cy="95956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692" h="1511">
                <a:moveTo>
                  <a:pt x="0" y="0"/>
                </a:moveTo>
                <a:lnTo>
                  <a:pt x="11" y="1"/>
                </a:lnTo>
                <a:cubicBezTo>
                  <a:pt x="394" y="40"/>
                  <a:pt x="692" y="363"/>
                  <a:pt x="692" y="756"/>
                </a:cubicBezTo>
                <a:cubicBezTo>
                  <a:pt x="692" y="1148"/>
                  <a:pt x="394" y="1471"/>
                  <a:pt x="11" y="1510"/>
                </a:cubicBezTo>
                <a:lnTo>
                  <a:pt x="0" y="1511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9712960" y="0"/>
            <a:ext cx="1144905" cy="5727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803" h="902">
                <a:moveTo>
                  <a:pt x="0" y="0"/>
                </a:moveTo>
                <a:lnTo>
                  <a:pt x="1803" y="0"/>
                </a:lnTo>
                <a:lnTo>
                  <a:pt x="1803" y="1"/>
                </a:lnTo>
                <a:cubicBezTo>
                  <a:pt x="1803" y="498"/>
                  <a:pt x="1399" y="902"/>
                  <a:pt x="902" y="902"/>
                </a:cubicBezTo>
                <a:cubicBezTo>
                  <a:pt x="404" y="902"/>
                  <a:pt x="0" y="498"/>
                  <a:pt x="0" y="1"/>
                </a:cubicBezTo>
                <a:lnTo>
                  <a:pt x="0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/>
        </p:nvSpPr>
        <p:spPr>
          <a:xfrm flipH="1" flipV="1">
            <a:off x="10857865" y="0"/>
            <a:ext cx="1334135" cy="925830"/>
          </a:xfrm>
          <a:custGeom>
            <a:avLst/>
            <a:gdLst>
              <a:gd name="adj" fmla="val 77634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992" h="2206">
                <a:moveTo>
                  <a:pt x="1387" y="0"/>
                </a:moveTo>
                <a:lnTo>
                  <a:pt x="1992" y="0"/>
                </a:lnTo>
                <a:lnTo>
                  <a:pt x="318" y="2206"/>
                </a:lnTo>
                <a:lnTo>
                  <a:pt x="0" y="2206"/>
                </a:lnTo>
                <a:lnTo>
                  <a:pt x="0" y="1828"/>
                </a:lnTo>
                <a:lnTo>
                  <a:pt x="1387" y="0"/>
                </a:lnTo>
                <a:close/>
              </a:path>
            </a:pathLst>
          </a:custGeom>
          <a:solidFill>
            <a:srgbClr val="3E46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0" name="斜纹 19"/>
          <p:cNvSpPr/>
          <p:nvPr/>
        </p:nvSpPr>
        <p:spPr>
          <a:xfrm flipH="1" flipV="1">
            <a:off x="10756900" y="709295"/>
            <a:ext cx="1435100" cy="964565"/>
          </a:xfrm>
          <a:prstGeom prst="diagStripe">
            <a:avLst>
              <a:gd name="adj" fmla="val 75270"/>
            </a:avLst>
          </a:prstGeom>
          <a:pattFill prst="wd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等腰三角形 20"/>
          <p:cNvSpPr/>
          <p:nvPr/>
        </p:nvSpPr>
        <p:spPr>
          <a:xfrm rot="12360000">
            <a:off x="11520170" y="2698115"/>
            <a:ext cx="557530" cy="451485"/>
          </a:xfrm>
          <a:prstGeom prst="triangle">
            <a:avLst/>
          </a:prstGeom>
          <a:pattFill prst="dkDnDiag">
            <a:fgClr>
              <a:srgbClr val="ECEDE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rot="12360000">
            <a:off x="-93982" y="8165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斜纹 28"/>
          <p:cNvSpPr/>
          <p:nvPr/>
        </p:nvSpPr>
        <p:spPr>
          <a:xfrm flipH="1" flipV="1">
            <a:off x="10756900" y="5713095"/>
            <a:ext cx="1435100" cy="1144905"/>
          </a:xfrm>
          <a:prstGeom prst="diagStripe">
            <a:avLst>
              <a:gd name="adj" fmla="val 77315"/>
            </a:avLst>
          </a:prstGeom>
          <a:pattFill prst="ltUpDiag">
            <a:fgClr>
              <a:srgbClr val="F3ECDC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 rot="9240000" flipH="1">
            <a:off x="11894183" y="6426572"/>
            <a:ext cx="400306" cy="362433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630" h="571">
                <a:moveTo>
                  <a:pt x="352" y="0"/>
                </a:moveTo>
                <a:lnTo>
                  <a:pt x="630" y="571"/>
                </a:lnTo>
                <a:lnTo>
                  <a:pt x="0" y="571"/>
                </a:lnTo>
                <a:lnTo>
                  <a:pt x="352" y="0"/>
                </a:lnTo>
                <a:close/>
              </a:path>
            </a:pathLst>
          </a:cu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1738610" y="3948430"/>
            <a:ext cx="241935" cy="24193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43510" y="2698750"/>
            <a:ext cx="291465" cy="291465"/>
          </a:xfrm>
          <a:prstGeom prst="ellipse">
            <a:avLst/>
          </a:prstGeom>
          <a:pattFill prst="dkDnDiag">
            <a:fgClr>
              <a:srgbClr val="3E465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9480" y="320675"/>
            <a:ext cx="570039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6.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公司常见备份方式对比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0" y="1185545"/>
            <a:ext cx="9469120" cy="38722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4879</Words>
  <Application>WPS 演示</Application>
  <PresentationFormat>宽屏</PresentationFormat>
  <Paragraphs>262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Wingdings</vt:lpstr>
      <vt:lpstr>思源黑体 CN Medium</vt:lpstr>
      <vt:lpstr>黑体</vt:lpstr>
      <vt:lpstr>思源黑体 CN Normal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zj</cp:lastModifiedBy>
  <cp:revision>304</cp:revision>
  <dcterms:created xsi:type="dcterms:W3CDTF">2019-06-19T02:08:00Z</dcterms:created>
  <dcterms:modified xsi:type="dcterms:W3CDTF">2026-03-29T16:10:51Z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KSOTemplateUUID">
    <vt:lpwstr>v1.0_mb_CSBc9peB1n/rfEGdf0ReWQ==</vt:lpwstr>
  </property>
  <property fmtid="{D5CDD505-2E9C-101B-9397-08002B2CF9AE}" pid="4" name="ICV">
    <vt:lpwstr>17A26BC332C5432697B068660AB3FEB6_12</vt:lpwstr>
  </property>
</Properties>
</file>